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</p:embeddedFont>
    <p:embeddedFont>
      <p:font typeface="Lato Bold" panose="020B0604020202020204" charset="0"/>
      <p:regular r:id="rId16"/>
    </p:embeddedFont>
    <p:embeddedFont>
      <p:font typeface="Open Sans" panose="020B0606030504020204" pitchFamily="3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 flipV="1">
            <a:off x="12243312" y="7728224"/>
            <a:ext cx="8123999" cy="6705992"/>
          </a:xfrm>
          <a:custGeom>
            <a:avLst/>
            <a:gdLst/>
            <a:ahLst/>
            <a:cxnLst/>
            <a:rect l="l" t="t" r="r" b="b"/>
            <a:pathLst>
              <a:path w="8123999" h="6705992">
                <a:moveTo>
                  <a:pt x="8123999" y="6705992"/>
                </a:moveTo>
                <a:lnTo>
                  <a:pt x="0" y="6705992"/>
                </a:lnTo>
                <a:lnTo>
                  <a:pt x="0" y="0"/>
                </a:lnTo>
                <a:lnTo>
                  <a:pt x="8123999" y="0"/>
                </a:lnTo>
                <a:lnTo>
                  <a:pt x="8123999" y="670599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2249197" y="1565133"/>
            <a:ext cx="13789606" cy="443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1"/>
              </a:lnSpc>
            </a:pPr>
            <a:r>
              <a:rPr lang="en-US" sz="12700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SURVEILLANCE DRONES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24337" y="5891494"/>
            <a:ext cx="9818224" cy="85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25"/>
              </a:lnSpc>
            </a:pPr>
            <a:r>
              <a:rPr lang="en-US" sz="494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TEAM APEX-4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6897" y="303287"/>
            <a:ext cx="3904601" cy="33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1"/>
              </a:lnSpc>
            </a:pPr>
            <a:r>
              <a:rPr lang="en-US" sz="2608" b="1" spc="-83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P.E.G.A.S.U.S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D27E7E6-7F7D-58D4-07F5-0BE17BD42F6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641" y="674479"/>
            <a:ext cx="1944556" cy="19445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6FC2F8C-89A1-0D68-F6C9-907E464BD8F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9998" y="678728"/>
            <a:ext cx="2038107" cy="2038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3517364" y="1053874"/>
            <a:ext cx="11253272" cy="305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28"/>
              </a:lnSpc>
            </a:pPr>
            <a:r>
              <a:rPr lang="en-US" sz="873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THE PROBLEM STATEMENT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29185" y="4634560"/>
            <a:ext cx="13692757" cy="1817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lang="en-US" sz="3482" spc="-11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To build a multirotot U.A.V. that would patrol the campus through a fixed path. The drone would carry a gimbal camera that would livestream the video to a ground station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01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4AF4D1-B17C-2B9F-6D7C-4DE202B873F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447" y="5236752"/>
            <a:ext cx="8829105" cy="50502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AutoShape 12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AutoShape 13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40988" y="3944399"/>
            <a:ext cx="5166988" cy="2366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71"/>
              </a:lnSpc>
            </a:pPr>
            <a:r>
              <a:rPr lang="en-US" sz="873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PROJECT GOALS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06962" y="4989619"/>
            <a:ext cx="5029088" cy="2195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0"/>
              </a:lnSpc>
            </a:pPr>
            <a:r>
              <a:rPr lang="en-US" sz="4193" spc="-134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To build a 3 kg drone that would carry a camera payload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726473" y="2670727"/>
            <a:ext cx="1340644" cy="1340644"/>
            <a:chOff x="0" y="0"/>
            <a:chExt cx="40640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138595" y="0"/>
                  </a:moveTo>
                  <a:lnTo>
                    <a:pt x="267805" y="0"/>
                  </a:lnTo>
                  <a:cubicBezTo>
                    <a:pt x="304563" y="0"/>
                    <a:pt x="339815" y="14602"/>
                    <a:pt x="365807" y="40593"/>
                  </a:cubicBezTo>
                  <a:cubicBezTo>
                    <a:pt x="391798" y="66585"/>
                    <a:pt x="406400" y="101837"/>
                    <a:pt x="406400" y="138595"/>
                  </a:cubicBezTo>
                  <a:lnTo>
                    <a:pt x="406400" y="267805"/>
                  </a:lnTo>
                  <a:cubicBezTo>
                    <a:pt x="406400" y="304563"/>
                    <a:pt x="391798" y="339815"/>
                    <a:pt x="365807" y="365807"/>
                  </a:cubicBezTo>
                  <a:cubicBezTo>
                    <a:pt x="339815" y="391798"/>
                    <a:pt x="304563" y="406400"/>
                    <a:pt x="267805" y="406400"/>
                  </a:cubicBezTo>
                  <a:lnTo>
                    <a:pt x="138595" y="406400"/>
                  </a:lnTo>
                  <a:cubicBezTo>
                    <a:pt x="101837" y="406400"/>
                    <a:pt x="66585" y="391798"/>
                    <a:pt x="40593" y="365807"/>
                  </a:cubicBezTo>
                  <a:cubicBezTo>
                    <a:pt x="14602" y="339815"/>
                    <a:pt x="0" y="304563"/>
                    <a:pt x="0" y="267805"/>
                  </a:cubicBezTo>
                  <a:lnTo>
                    <a:pt x="0" y="138595"/>
                  </a:lnTo>
                  <a:cubicBezTo>
                    <a:pt x="0" y="101837"/>
                    <a:pt x="14602" y="66585"/>
                    <a:pt x="40593" y="40593"/>
                  </a:cubicBezTo>
                  <a:cubicBezTo>
                    <a:pt x="66585" y="14602"/>
                    <a:pt x="101837" y="0"/>
                    <a:pt x="138595" y="0"/>
                  </a:cubicBezTo>
                  <a:close/>
                </a:path>
              </a:pathLst>
            </a:custGeom>
            <a:solidFill>
              <a:srgbClr val="7E695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786612" y="2868731"/>
            <a:ext cx="1220366" cy="1049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68"/>
              </a:lnSpc>
            </a:pPr>
            <a:r>
              <a:rPr lang="en-US" sz="7588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10203" y="5067300"/>
            <a:ext cx="4579763" cy="205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3"/>
              </a:lnSpc>
            </a:pPr>
            <a:r>
              <a:rPr lang="en-US" sz="3923" spc="-125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Livestream the camera’s recording to a ground station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3870702" y="2670727"/>
            <a:ext cx="1340644" cy="1340644"/>
            <a:chOff x="0" y="0"/>
            <a:chExt cx="406400" cy="406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138595" y="0"/>
                  </a:moveTo>
                  <a:lnTo>
                    <a:pt x="267805" y="0"/>
                  </a:lnTo>
                  <a:cubicBezTo>
                    <a:pt x="304563" y="0"/>
                    <a:pt x="339815" y="14602"/>
                    <a:pt x="365807" y="40593"/>
                  </a:cubicBezTo>
                  <a:cubicBezTo>
                    <a:pt x="391798" y="66585"/>
                    <a:pt x="406400" y="101837"/>
                    <a:pt x="406400" y="138595"/>
                  </a:cubicBezTo>
                  <a:lnTo>
                    <a:pt x="406400" y="267805"/>
                  </a:lnTo>
                  <a:cubicBezTo>
                    <a:pt x="406400" y="304563"/>
                    <a:pt x="391798" y="339815"/>
                    <a:pt x="365807" y="365807"/>
                  </a:cubicBezTo>
                  <a:cubicBezTo>
                    <a:pt x="339815" y="391798"/>
                    <a:pt x="304563" y="406400"/>
                    <a:pt x="267805" y="406400"/>
                  </a:cubicBezTo>
                  <a:lnTo>
                    <a:pt x="138595" y="406400"/>
                  </a:lnTo>
                  <a:cubicBezTo>
                    <a:pt x="101837" y="406400"/>
                    <a:pt x="66585" y="391798"/>
                    <a:pt x="40593" y="365807"/>
                  </a:cubicBezTo>
                  <a:cubicBezTo>
                    <a:pt x="14602" y="339815"/>
                    <a:pt x="0" y="304563"/>
                    <a:pt x="0" y="267805"/>
                  </a:cubicBezTo>
                  <a:lnTo>
                    <a:pt x="0" y="138595"/>
                  </a:lnTo>
                  <a:cubicBezTo>
                    <a:pt x="0" y="101837"/>
                    <a:pt x="14602" y="66585"/>
                    <a:pt x="40593" y="40593"/>
                  </a:cubicBezTo>
                  <a:cubicBezTo>
                    <a:pt x="66585" y="14602"/>
                    <a:pt x="101837" y="0"/>
                    <a:pt x="138595" y="0"/>
                  </a:cubicBezTo>
                  <a:close/>
                </a:path>
              </a:pathLst>
            </a:custGeom>
            <a:solidFill>
              <a:srgbClr val="7E695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930841" y="2868731"/>
            <a:ext cx="1220366" cy="1049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68"/>
              </a:lnSpc>
            </a:pPr>
            <a:r>
              <a:rPr lang="en-US" sz="7588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549065"/>
            <a:ext cx="14648114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4933301" y="737935"/>
            <a:ext cx="1232599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857250"/>
            <a:ext cx="7141925" cy="150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28"/>
              </a:lnSpc>
            </a:pPr>
            <a:r>
              <a:rPr lang="en-US" sz="873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THE BUILD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2931" y="3319128"/>
            <a:ext cx="15617690" cy="4689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6"/>
              </a:lnSpc>
            </a:pPr>
            <a:r>
              <a:rPr lang="en-US" sz="3326" spc="-10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•A quadcopter with15 inch propellers</a:t>
            </a:r>
          </a:p>
          <a:p>
            <a:pPr algn="l">
              <a:lnSpc>
                <a:spcPts val="4656"/>
              </a:lnSpc>
            </a:pPr>
            <a:r>
              <a:rPr lang="en-US" sz="3326" spc="-10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•Comprises of a gimbal with a camera and an RF transmitter for livestreaming</a:t>
            </a:r>
          </a:p>
          <a:p>
            <a:pPr algn="l">
              <a:lnSpc>
                <a:spcPts val="4656"/>
              </a:lnSpc>
            </a:pPr>
            <a:r>
              <a:rPr lang="en-US" sz="3326" spc="-10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•Pixhawk flight controller and a power distribution board for driving the rotors and guiding the UAV</a:t>
            </a:r>
          </a:p>
          <a:p>
            <a:pPr algn="l">
              <a:lnSpc>
                <a:spcPts val="4656"/>
              </a:lnSpc>
            </a:pPr>
            <a:r>
              <a:rPr lang="en-US" sz="3326" spc="-10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•GPS to track and guide the drone</a:t>
            </a:r>
          </a:p>
          <a:p>
            <a:pPr algn="l">
              <a:lnSpc>
                <a:spcPts val="4656"/>
              </a:lnSpc>
            </a:pPr>
            <a:r>
              <a:rPr lang="en-US" sz="3326" spc="-10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•LiDAR for height determination and landing</a:t>
            </a:r>
          </a:p>
          <a:p>
            <a:pPr algn="l">
              <a:lnSpc>
                <a:spcPts val="4656"/>
              </a:lnSpc>
            </a:pPr>
            <a:r>
              <a:rPr lang="en-US" sz="3326" spc="-10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•Failsafe Mechanisms</a:t>
            </a:r>
          </a:p>
          <a:p>
            <a:pPr algn="l">
              <a:lnSpc>
                <a:spcPts val="4656"/>
              </a:lnSpc>
            </a:pPr>
            <a:endParaRPr lang="en-US" sz="3326" spc="-106">
              <a:solidFill>
                <a:srgbClr val="140C0C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03</a:t>
            </a:r>
          </a:p>
        </p:txBody>
      </p:sp>
      <p:sp>
        <p:nvSpPr>
          <p:cNvPr id="7" name="Freeform 7"/>
          <p:cNvSpPr/>
          <p:nvPr/>
        </p:nvSpPr>
        <p:spPr>
          <a:xfrm>
            <a:off x="17588978" y="4303884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1" y="0"/>
                </a:lnTo>
                <a:lnTo>
                  <a:pt x="2546231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04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AutoShape 14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028700" y="1407307"/>
            <a:ext cx="14902894" cy="2103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64"/>
              </a:lnSpc>
            </a:pPr>
            <a:r>
              <a:rPr lang="en-US" sz="6045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THE FRAME, PROPELLERS AND LANDING GEARS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3797139"/>
            <a:ext cx="15625806" cy="4730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5"/>
              </a:lnSpc>
              <a:spcBef>
                <a:spcPct val="0"/>
              </a:spcBef>
            </a:pPr>
            <a:r>
              <a:rPr lang="en-US" sz="3861">
                <a:solidFill>
                  <a:srgbClr val="140C0C"/>
                </a:solidFill>
                <a:latin typeface="Open Sans"/>
                <a:ea typeface="Open Sans"/>
                <a:cs typeface="Open Sans"/>
                <a:sym typeface="Open Sans"/>
              </a:rPr>
              <a:t>•The frame is cross shaped, with the rotor to rotor diagonal measuring about 550 mm</a:t>
            </a:r>
          </a:p>
          <a:p>
            <a:pPr algn="l">
              <a:lnSpc>
                <a:spcPts val="5405"/>
              </a:lnSpc>
              <a:spcBef>
                <a:spcPct val="0"/>
              </a:spcBef>
            </a:pPr>
            <a:r>
              <a:rPr lang="en-US" sz="3861">
                <a:solidFill>
                  <a:srgbClr val="140C0C"/>
                </a:solidFill>
                <a:latin typeface="Open Sans"/>
                <a:ea typeface="Open Sans"/>
                <a:cs typeface="Open Sans"/>
                <a:sym typeface="Open Sans"/>
              </a:rPr>
              <a:t>•Carbon fiber is the ideal material for both the frames and the propellers, since it exhibits high strength despite being lightweight</a:t>
            </a:r>
          </a:p>
          <a:p>
            <a:pPr algn="l">
              <a:lnSpc>
                <a:spcPts val="5405"/>
              </a:lnSpc>
              <a:spcBef>
                <a:spcPct val="0"/>
              </a:spcBef>
            </a:pPr>
            <a:r>
              <a:rPr lang="en-US" sz="3861">
                <a:solidFill>
                  <a:srgbClr val="140C0C"/>
                </a:solidFill>
                <a:latin typeface="Open Sans"/>
                <a:ea typeface="Open Sans"/>
                <a:cs typeface="Open Sans"/>
                <a:sym typeface="Open Sans"/>
              </a:rPr>
              <a:t>•The propellers are about 15 inches wide in diameter</a:t>
            </a:r>
          </a:p>
          <a:p>
            <a:pPr algn="l">
              <a:lnSpc>
                <a:spcPts val="5405"/>
              </a:lnSpc>
              <a:spcBef>
                <a:spcPct val="0"/>
              </a:spcBef>
            </a:pPr>
            <a:r>
              <a:rPr lang="en-US" sz="3861">
                <a:solidFill>
                  <a:srgbClr val="140C0C"/>
                </a:solidFill>
                <a:latin typeface="Open Sans"/>
                <a:ea typeface="Open Sans"/>
                <a:cs typeface="Open Sans"/>
                <a:sym typeface="Open Sans"/>
              </a:rPr>
              <a:t>•The landing gear is fixed, attached to the frame and made up of the same material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5A59F89-5310-2A1E-3856-5ABE7C91679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rcRect/>
          <a:stretch>
            <a:fillRect/>
          </a:stretch>
        </p:blipFill>
        <p:spPr>
          <a:xfrm>
            <a:off x="6927" y="-50329"/>
            <a:ext cx="4906815" cy="49068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05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AutoShape 14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028700" y="1427559"/>
            <a:ext cx="6779304" cy="150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28"/>
              </a:lnSpc>
            </a:pPr>
            <a:r>
              <a:rPr lang="en-US" sz="873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FAIL-SAFES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539" y="3188695"/>
            <a:ext cx="14097631" cy="572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7"/>
              </a:lnSpc>
              <a:spcBef>
                <a:spcPct val="0"/>
              </a:spcBef>
            </a:pPr>
            <a:r>
              <a:rPr lang="en-US" sz="3590" dirty="0">
                <a:solidFill>
                  <a:srgbClr val="140C0C"/>
                </a:solidFill>
                <a:latin typeface="Open Sans"/>
                <a:ea typeface="Open Sans"/>
                <a:cs typeface="Open Sans"/>
                <a:sym typeface="Open Sans"/>
              </a:rPr>
              <a:t>•When the battery reaches around 20% of its capacity, the power module will detect it by reading the terminal voltage of the battery</a:t>
            </a:r>
          </a:p>
          <a:p>
            <a:pPr algn="l">
              <a:lnSpc>
                <a:spcPts val="5027"/>
              </a:lnSpc>
              <a:spcBef>
                <a:spcPct val="0"/>
              </a:spcBef>
            </a:pPr>
            <a:r>
              <a:rPr lang="en-US" sz="3590" dirty="0">
                <a:solidFill>
                  <a:srgbClr val="140C0C"/>
                </a:solidFill>
                <a:latin typeface="Open Sans"/>
                <a:ea typeface="Open Sans"/>
                <a:cs typeface="Open Sans"/>
                <a:sym typeface="Open Sans"/>
              </a:rPr>
              <a:t>•GPS could also fail in GPS denied areas</a:t>
            </a:r>
          </a:p>
          <a:p>
            <a:pPr algn="l">
              <a:lnSpc>
                <a:spcPts val="5027"/>
              </a:lnSpc>
              <a:spcBef>
                <a:spcPct val="0"/>
              </a:spcBef>
            </a:pPr>
            <a:r>
              <a:rPr lang="en-US" sz="3590" dirty="0">
                <a:solidFill>
                  <a:srgbClr val="140C0C"/>
                </a:solidFill>
                <a:latin typeface="Open Sans"/>
                <a:ea typeface="Open Sans"/>
                <a:cs typeface="Open Sans"/>
                <a:sym typeface="Open Sans"/>
              </a:rPr>
              <a:t>•During these situations, our failsafe protocol will land the drone in the nearest safe location, already marked on the predetermined path</a:t>
            </a:r>
          </a:p>
          <a:p>
            <a:pPr algn="l">
              <a:lnSpc>
                <a:spcPts val="5027"/>
              </a:lnSpc>
              <a:spcBef>
                <a:spcPct val="0"/>
              </a:spcBef>
            </a:pPr>
            <a:r>
              <a:rPr lang="en-US" sz="3590" dirty="0">
                <a:solidFill>
                  <a:srgbClr val="140C0C"/>
                </a:solidFill>
                <a:latin typeface="Open Sans"/>
                <a:ea typeface="Open Sans"/>
                <a:cs typeface="Open Sans"/>
                <a:sym typeface="Open Sans"/>
              </a:rPr>
              <a:t>•The nearest safe location could be identified through the previously known position determined through GPS and a magnetometer is used for navigation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06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AutoShape 14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028700" y="884531"/>
            <a:ext cx="14993242" cy="150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28"/>
              </a:lnSpc>
            </a:pPr>
            <a:r>
              <a:rPr lang="en-US" sz="873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POWER AND MASS BUDGET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920279"/>
            <a:ext cx="16591990" cy="5704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8"/>
              </a:lnSpc>
              <a:spcBef>
                <a:spcPct val="0"/>
              </a:spcBef>
            </a:pPr>
            <a:r>
              <a:rPr lang="en-US" sz="3277">
                <a:solidFill>
                  <a:srgbClr val="140C0C"/>
                </a:solidFill>
                <a:latin typeface="Open Sans"/>
                <a:ea typeface="Open Sans"/>
                <a:cs typeface="Open Sans"/>
                <a:sym typeface="Open Sans"/>
              </a:rPr>
              <a:t>•The battery delivers 22.2 V with 12.6 Ah of charge and could deliver 279 Wh of energy</a:t>
            </a:r>
          </a:p>
          <a:p>
            <a:pPr algn="l">
              <a:lnSpc>
                <a:spcPts val="4588"/>
              </a:lnSpc>
              <a:spcBef>
                <a:spcPct val="0"/>
              </a:spcBef>
            </a:pPr>
            <a:r>
              <a:rPr lang="en-US" sz="3277">
                <a:solidFill>
                  <a:srgbClr val="140C0C"/>
                </a:solidFill>
                <a:latin typeface="Open Sans"/>
                <a:ea typeface="Open Sans"/>
                <a:cs typeface="Open Sans"/>
                <a:sym typeface="Open Sans"/>
              </a:rPr>
              <a:t>• A Li-ion battery is used since it is better for long duration endurance and the 5 m/s winds do not cause a big spike in thrust, so Li-ion batteries could handle it</a:t>
            </a:r>
          </a:p>
          <a:p>
            <a:pPr algn="l">
              <a:lnSpc>
                <a:spcPts val="4588"/>
              </a:lnSpc>
              <a:spcBef>
                <a:spcPct val="0"/>
              </a:spcBef>
            </a:pPr>
            <a:r>
              <a:rPr lang="en-US" sz="3277">
                <a:solidFill>
                  <a:srgbClr val="140C0C"/>
                </a:solidFill>
                <a:latin typeface="Open Sans"/>
                <a:ea typeface="Open Sans"/>
                <a:cs typeface="Open Sans"/>
                <a:sym typeface="Open Sans"/>
              </a:rPr>
              <a:t>•The net power for just hovering is about 323 W, with just the motors consuming about 300 W</a:t>
            </a:r>
          </a:p>
          <a:p>
            <a:pPr algn="l">
              <a:lnSpc>
                <a:spcPts val="4588"/>
              </a:lnSpc>
              <a:spcBef>
                <a:spcPct val="0"/>
              </a:spcBef>
            </a:pPr>
            <a:r>
              <a:rPr lang="en-US" sz="3277">
                <a:solidFill>
                  <a:srgbClr val="140C0C"/>
                </a:solidFill>
                <a:latin typeface="Open Sans"/>
                <a:ea typeface="Open Sans"/>
                <a:cs typeface="Open Sans"/>
                <a:sym typeface="Open Sans"/>
              </a:rPr>
              <a:t>•Assuming 80% efficiency of conversion, we get a 40+ minute hover time and about 30 minutes of flight time</a:t>
            </a:r>
          </a:p>
          <a:p>
            <a:pPr algn="l">
              <a:lnSpc>
                <a:spcPts val="4588"/>
              </a:lnSpc>
              <a:spcBef>
                <a:spcPct val="0"/>
              </a:spcBef>
            </a:pPr>
            <a:r>
              <a:rPr lang="en-US" sz="3277">
                <a:solidFill>
                  <a:srgbClr val="140C0C"/>
                </a:solidFill>
                <a:latin typeface="Open Sans"/>
                <a:ea typeface="Open Sans"/>
                <a:cs typeface="Open Sans"/>
                <a:sym typeface="Open Sans"/>
              </a:rPr>
              <a:t>•The mass of the drone is about 2.7 kg and the propellers deliver about 7.2 kg of thrust, giving us a thrust:weight ratio of about 2.6:1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AutoShape 12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AutoShape 13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906050" y="1028700"/>
            <a:ext cx="16353250" cy="9167415"/>
          </a:xfrm>
          <a:custGeom>
            <a:avLst/>
            <a:gdLst/>
            <a:ahLst/>
            <a:cxnLst/>
            <a:rect l="l" t="t" r="r" b="b"/>
            <a:pathLst>
              <a:path w="16353250" h="9167415">
                <a:moveTo>
                  <a:pt x="0" y="0"/>
                </a:moveTo>
                <a:lnTo>
                  <a:pt x="16353250" y="0"/>
                </a:lnTo>
                <a:lnTo>
                  <a:pt x="16353250" y="9167415"/>
                </a:lnTo>
                <a:lnTo>
                  <a:pt x="0" y="91674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7050642" y="940290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-40780" y="-328083"/>
            <a:ext cx="11774637" cy="150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28"/>
              </a:lnSpc>
            </a:pPr>
            <a:r>
              <a:rPr lang="en-US" sz="873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THE ELECTRONICS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028700" y="670999"/>
            <a:ext cx="9483250" cy="150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28"/>
              </a:lnSpc>
            </a:pPr>
            <a:r>
              <a:rPr lang="en-US" sz="873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NAVIGATION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7771" y="2293441"/>
            <a:ext cx="15371184" cy="6992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1"/>
              </a:lnSpc>
            </a:pPr>
            <a:r>
              <a:rPr lang="en-US" sz="3593" spc="-11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•Our navigation is based on a pre-determined path and GPS</a:t>
            </a:r>
          </a:p>
          <a:p>
            <a:pPr algn="l">
              <a:lnSpc>
                <a:spcPts val="5031"/>
              </a:lnSpc>
            </a:pPr>
            <a:r>
              <a:rPr lang="en-US" sz="3593" spc="-11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•The GPS will locate the drone around the pre-determined path and the LiDAR will locate the drone’s height from the ground, therefore, we could get its approximate position at any time</a:t>
            </a:r>
          </a:p>
          <a:p>
            <a:pPr algn="l">
              <a:lnSpc>
                <a:spcPts val="5031"/>
              </a:lnSpc>
            </a:pPr>
            <a:r>
              <a:rPr lang="en-US" sz="3593" spc="-11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•As a failsafe, the magnetometer would guide the drone to a safe area</a:t>
            </a:r>
          </a:p>
          <a:p>
            <a:pPr algn="l">
              <a:lnSpc>
                <a:spcPts val="5031"/>
              </a:lnSpc>
            </a:pPr>
            <a:r>
              <a:rPr lang="en-US" sz="3593" spc="-11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•A constraint of a 5m/s windspeed is given, which would be handled by tilting the drone. The vibrations and abnormal movement will be measured by the built-in IMU in the flight controller</a:t>
            </a:r>
          </a:p>
          <a:p>
            <a:pPr algn="l">
              <a:lnSpc>
                <a:spcPts val="5031"/>
              </a:lnSpc>
            </a:pPr>
            <a:r>
              <a:rPr lang="en-US" sz="3593" spc="-11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•If there is sufficient charge left in the battery, there is an option to make it return to a specific place labelled as ‘home’</a:t>
            </a:r>
          </a:p>
          <a:p>
            <a:pPr algn="l">
              <a:lnSpc>
                <a:spcPts val="5031"/>
              </a:lnSpc>
            </a:pPr>
            <a:endParaRPr lang="en-US" sz="3593" spc="-114" dirty="0">
              <a:solidFill>
                <a:srgbClr val="140C0C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08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933689" y="783296"/>
            <a:ext cx="9483250" cy="150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28"/>
              </a:lnSpc>
            </a:pPr>
            <a:r>
              <a:rPr lang="en-US" sz="873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THE CAMERA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4533" y="2798145"/>
            <a:ext cx="15611921" cy="554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4501" spc="-144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•The camera present records in 4k ultra HD, but it might be compromised while sending it through the RF transmitter</a:t>
            </a:r>
          </a:p>
          <a:p>
            <a:pPr algn="l">
              <a:lnSpc>
                <a:spcPts val="6302"/>
              </a:lnSpc>
            </a:pPr>
            <a:r>
              <a:rPr lang="en-US" sz="4501" spc="-144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•The RF transmitter could transmit the video within a 5 km range</a:t>
            </a:r>
          </a:p>
          <a:p>
            <a:pPr algn="l">
              <a:lnSpc>
                <a:spcPts val="6302"/>
              </a:lnSpc>
            </a:pPr>
            <a:r>
              <a:rPr lang="en-US" sz="4501" spc="-144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•A gimbal is used to stabilise the camera, even when the drone tilts</a:t>
            </a:r>
          </a:p>
          <a:p>
            <a:pPr algn="l">
              <a:lnSpc>
                <a:spcPts val="6302"/>
              </a:lnSpc>
            </a:pPr>
            <a:endParaRPr lang="en-US" sz="4501" spc="-144">
              <a:solidFill>
                <a:srgbClr val="140C0C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09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EF87732-E041-3930-BA1B-3D02596EB63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rcRect/>
          <a:stretch>
            <a:fillRect/>
          </a:stretch>
        </p:blipFill>
        <p:spPr>
          <a:xfrm>
            <a:off x="12826924" y="6599197"/>
            <a:ext cx="3152700" cy="3152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028700" y="958764"/>
            <a:ext cx="15611921" cy="150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28"/>
              </a:lnSpc>
            </a:pPr>
            <a:r>
              <a:rPr lang="en-US" sz="873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PROPOSED IMPROVEMENTS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6604" y="2699200"/>
            <a:ext cx="16368786" cy="590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25"/>
              </a:lnSpc>
            </a:pPr>
            <a:endParaRPr dirty="0"/>
          </a:p>
          <a:p>
            <a:pPr marL="898328" lvl="1" indent="-449164" algn="l">
              <a:lnSpc>
                <a:spcPts val="5825"/>
              </a:lnSpc>
              <a:buFont typeface="Arial"/>
              <a:buChar char="•"/>
            </a:pPr>
            <a:r>
              <a:rPr lang="en-US" sz="4160" spc="-133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The drone could be more powerful when weight is not constrained</a:t>
            </a:r>
          </a:p>
          <a:p>
            <a:pPr marL="898328" lvl="1" indent="-449164" algn="l">
              <a:lnSpc>
                <a:spcPts val="5825"/>
              </a:lnSpc>
              <a:buFont typeface="Arial"/>
              <a:buChar char="•"/>
            </a:pPr>
            <a:r>
              <a:rPr lang="en-US" sz="4160" spc="-133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Quality of RF transmitter could be improved</a:t>
            </a:r>
          </a:p>
          <a:p>
            <a:pPr marL="898328" lvl="1" indent="-449164" algn="l">
              <a:lnSpc>
                <a:spcPts val="5825"/>
              </a:lnSpc>
              <a:buFont typeface="Arial"/>
              <a:buChar char="•"/>
            </a:pPr>
            <a:r>
              <a:rPr lang="en-US" sz="4160" spc="-133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Drone’s frame could be made better</a:t>
            </a:r>
          </a:p>
          <a:p>
            <a:pPr marL="898328" lvl="1" indent="-449164" algn="l">
              <a:lnSpc>
                <a:spcPts val="5825"/>
              </a:lnSpc>
              <a:buFont typeface="Arial"/>
              <a:buChar char="•"/>
            </a:pPr>
            <a:r>
              <a:rPr lang="en-US" sz="4160" spc="-133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Human and vehicle tracking using machine learning models after the footage is stored in a </a:t>
            </a:r>
            <a:r>
              <a:rPr lang="en-US" sz="4160" spc="-133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ground station</a:t>
            </a:r>
            <a:endParaRPr lang="en-US" sz="4160" spc="-133" dirty="0">
              <a:solidFill>
                <a:srgbClr val="140C0C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5825"/>
              </a:lnSpc>
            </a:pPr>
            <a:endParaRPr lang="en-US" sz="4160" spc="-133" dirty="0">
              <a:solidFill>
                <a:srgbClr val="140C0C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10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6021942" y="9034814"/>
            <a:ext cx="1237358" cy="88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11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AutoShape 14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2249197" y="3554254"/>
            <a:ext cx="13789606" cy="217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1"/>
              </a:lnSpc>
            </a:pPr>
            <a:r>
              <a:rPr lang="en-US" sz="12700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662</Words>
  <Application>Microsoft Office PowerPoint</Application>
  <PresentationFormat>Custom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Lato Bold</vt:lpstr>
      <vt:lpstr>Calibri</vt:lpstr>
      <vt:lpstr>Arial</vt:lpstr>
      <vt:lpstr>Canva Sans</vt:lpstr>
      <vt:lpstr>Canva Sans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Minimalist Professional Project Presentation</dc:title>
  <cp:lastModifiedBy>SC26B062-DANIEL INIGO A 2026-BTECH-ELCOMENG</cp:lastModifiedBy>
  <cp:revision>3</cp:revision>
  <dcterms:created xsi:type="dcterms:W3CDTF">2006-08-16T00:00:00Z</dcterms:created>
  <dcterms:modified xsi:type="dcterms:W3CDTF">2026-10-11T09:46:41Z</dcterms:modified>
  <dc:identifier>DAHXsBRRlh0</dc:identifier>
</cp:coreProperties>
</file>